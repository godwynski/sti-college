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Source Sans 3 Bold" charset="1" panose="020B0303030403020204"/>
      <p:regular r:id="rId20"/>
    </p:embeddedFont>
    <p:embeddedFont>
      <p:font typeface="Montserrat Bold" charset="1" panose="00000800000000000000"/>
      <p:regular r:id="rId21"/>
    </p:embeddedFont>
    <p:embeddedFont>
      <p:font typeface="Source Sans 3" charset="1" panose="020B0303030403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15500" y="0"/>
            <a:ext cx="8572500" cy="10287000"/>
          </a:xfrm>
          <a:custGeom>
            <a:avLst/>
            <a:gdLst/>
            <a:ahLst/>
            <a:cxnLst/>
            <a:rect r="r" b="b" t="t" l="l"/>
            <a:pathLst>
              <a:path h="10287000" w="8572500">
                <a:moveTo>
                  <a:pt x="0" y="0"/>
                </a:moveTo>
                <a:lnTo>
                  <a:pt x="8572500" y="0"/>
                </a:lnTo>
                <a:lnTo>
                  <a:pt x="8572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" r="0" b="-5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239000" y="0"/>
            <a:ext cx="11049000" cy="10287000"/>
            <a:chOff x="0" y="0"/>
            <a:chExt cx="14732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3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4732000">
                  <a:moveTo>
                    <a:pt x="0" y="0"/>
                  </a:moveTo>
                  <a:lnTo>
                    <a:pt x="14732000" y="0"/>
                  </a:lnTo>
                  <a:lnTo>
                    <a:pt x="1473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827">
                <a:alpha val="4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732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038225"/>
            <a:ext cx="7429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16" b="true">
                <a:solidFill>
                  <a:srgbClr val="24C7D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IT2312  /  IT SERVICE MANAGEMENT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62225"/>
            <a:ext cx="10668000" cy="174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6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IT Service Systems</a:t>
            </a:r>
          </a:p>
          <a:p>
            <a:pPr algn="l">
              <a:lnSpc>
                <a:spcPts val="6732"/>
              </a:lnSpc>
            </a:pPr>
            <a:r>
              <a:rPr lang="en-US" sz="66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Economics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914900"/>
            <a:ext cx="809625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24C7D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Roles, Responsibilities &amp; Service Culture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7772400"/>
            <a:ext cx="4000500" cy="28575"/>
            <a:chOff x="0" y="0"/>
            <a:chExt cx="53340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34000" cy="38100"/>
            </a:xfrm>
            <a:custGeom>
              <a:avLst/>
              <a:gdLst/>
              <a:ahLst/>
              <a:cxnLst/>
              <a:rect r="r" b="b" t="t" l="l"/>
              <a:pathLst>
                <a:path h="381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7E35B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334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8248650"/>
            <a:ext cx="7239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Classroom reporting  •  Godwyn Neri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0600"/>
            <a:ext cx="685800" cy="76200"/>
            <a:chOff x="0" y="0"/>
            <a:chExt cx="9144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101600"/>
            </a:xfrm>
            <a:custGeom>
              <a:avLst/>
              <a:gdLst/>
              <a:ahLst/>
              <a:cxnLst/>
              <a:rect r="r" b="b" t="t" l="l"/>
              <a:pathLst>
                <a:path h="1016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4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75247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16" b="true">
                <a:solidFill>
                  <a:srgbClr val="24C7D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LEARNING ROADMAP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295400"/>
            <a:ext cx="1095375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02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roles to service culture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4191000"/>
            <a:ext cx="1962150" cy="876300"/>
            <a:chOff x="0" y="0"/>
            <a:chExt cx="2616200" cy="1168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162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616200">
                  <a:moveTo>
                    <a:pt x="110971" y="0"/>
                  </a:moveTo>
                  <a:lnTo>
                    <a:pt x="2505229" y="0"/>
                  </a:lnTo>
                  <a:cubicBezTo>
                    <a:pt x="2566517" y="0"/>
                    <a:pt x="2616200" y="49683"/>
                    <a:pt x="2616200" y="110971"/>
                  </a:cubicBezTo>
                  <a:lnTo>
                    <a:pt x="2616200" y="1057429"/>
                  </a:lnTo>
                  <a:cubicBezTo>
                    <a:pt x="2616200" y="1118717"/>
                    <a:pt x="2566517" y="1168400"/>
                    <a:pt x="2505229" y="1168400"/>
                  </a:cubicBezTo>
                  <a:lnTo>
                    <a:pt x="110971" y="1168400"/>
                  </a:lnTo>
                  <a:cubicBezTo>
                    <a:pt x="49683" y="1168400"/>
                    <a:pt x="0" y="1118717"/>
                    <a:pt x="0" y="1057429"/>
                  </a:cubicBezTo>
                  <a:lnTo>
                    <a:pt x="0" y="110971"/>
                  </a:lnTo>
                  <a:cubicBezTo>
                    <a:pt x="0" y="49683"/>
                    <a:pt x="49683" y="0"/>
                    <a:pt x="11097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616200" cy="1158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02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  People &amp; roles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2990850" y="4629150"/>
            <a:ext cx="304800" cy="1143000"/>
          </a:xfrm>
          <a:prstGeom prst="line">
            <a:avLst/>
          </a:prstGeom>
          <a:ln cap="rnd" w="38100">
            <a:solidFill>
              <a:srgbClr val="24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3295650" y="5334000"/>
            <a:ext cx="1962150" cy="876300"/>
            <a:chOff x="0" y="0"/>
            <a:chExt cx="2616200" cy="1168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162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616200">
                  <a:moveTo>
                    <a:pt x="110971" y="0"/>
                  </a:moveTo>
                  <a:lnTo>
                    <a:pt x="2505229" y="0"/>
                  </a:lnTo>
                  <a:cubicBezTo>
                    <a:pt x="2566517" y="0"/>
                    <a:pt x="2616200" y="49683"/>
                    <a:pt x="2616200" y="110971"/>
                  </a:cubicBezTo>
                  <a:lnTo>
                    <a:pt x="2616200" y="1057429"/>
                  </a:lnTo>
                  <a:cubicBezTo>
                    <a:pt x="2616200" y="1118717"/>
                    <a:pt x="2566517" y="1168400"/>
                    <a:pt x="2505229" y="1168400"/>
                  </a:cubicBezTo>
                  <a:lnTo>
                    <a:pt x="110971" y="1168400"/>
                  </a:lnTo>
                  <a:cubicBezTo>
                    <a:pt x="49683" y="1168400"/>
                    <a:pt x="0" y="1118717"/>
                    <a:pt x="0" y="1057429"/>
                  </a:cubicBezTo>
                  <a:lnTo>
                    <a:pt x="0" y="110971"/>
                  </a:lnTo>
                  <a:cubicBezTo>
                    <a:pt x="0" y="49683"/>
                    <a:pt x="49683" y="0"/>
                    <a:pt x="11097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2616200" cy="1158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02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  Service Manager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5257800" y="4629150"/>
            <a:ext cx="304800" cy="1143000"/>
          </a:xfrm>
          <a:prstGeom prst="line">
            <a:avLst/>
          </a:prstGeom>
          <a:ln cap="rnd" w="38100">
            <a:solidFill>
              <a:srgbClr val="24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5562600" y="4191000"/>
            <a:ext cx="1962150" cy="876300"/>
            <a:chOff x="0" y="0"/>
            <a:chExt cx="2616200" cy="1168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162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616200">
                  <a:moveTo>
                    <a:pt x="110971" y="0"/>
                  </a:moveTo>
                  <a:lnTo>
                    <a:pt x="2505229" y="0"/>
                  </a:lnTo>
                  <a:cubicBezTo>
                    <a:pt x="2566517" y="0"/>
                    <a:pt x="2616200" y="49683"/>
                    <a:pt x="2616200" y="110971"/>
                  </a:cubicBezTo>
                  <a:lnTo>
                    <a:pt x="2616200" y="1057429"/>
                  </a:lnTo>
                  <a:cubicBezTo>
                    <a:pt x="2616200" y="1118717"/>
                    <a:pt x="2566517" y="1168400"/>
                    <a:pt x="2505229" y="1168400"/>
                  </a:cubicBezTo>
                  <a:lnTo>
                    <a:pt x="110971" y="1168400"/>
                  </a:lnTo>
                  <a:cubicBezTo>
                    <a:pt x="49683" y="1168400"/>
                    <a:pt x="0" y="1118717"/>
                    <a:pt x="0" y="1057429"/>
                  </a:cubicBezTo>
                  <a:lnTo>
                    <a:pt x="0" y="110971"/>
                  </a:lnTo>
                  <a:cubicBezTo>
                    <a:pt x="0" y="49683"/>
                    <a:pt x="49683" y="0"/>
                    <a:pt x="11097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2616200" cy="1158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02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  Needs &amp; capability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7524750" y="4629150"/>
            <a:ext cx="304800" cy="1143000"/>
          </a:xfrm>
          <a:prstGeom prst="line">
            <a:avLst/>
          </a:prstGeom>
          <a:ln cap="rnd" w="38100">
            <a:solidFill>
              <a:srgbClr val="24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7829550" y="5334000"/>
            <a:ext cx="1962150" cy="876300"/>
            <a:chOff x="0" y="0"/>
            <a:chExt cx="2616200" cy="1168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6162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616200">
                  <a:moveTo>
                    <a:pt x="110971" y="0"/>
                  </a:moveTo>
                  <a:lnTo>
                    <a:pt x="2505229" y="0"/>
                  </a:lnTo>
                  <a:cubicBezTo>
                    <a:pt x="2566517" y="0"/>
                    <a:pt x="2616200" y="49683"/>
                    <a:pt x="2616200" y="110971"/>
                  </a:cubicBezTo>
                  <a:lnTo>
                    <a:pt x="2616200" y="1057429"/>
                  </a:lnTo>
                  <a:cubicBezTo>
                    <a:pt x="2616200" y="1118717"/>
                    <a:pt x="2566517" y="1168400"/>
                    <a:pt x="2505229" y="1168400"/>
                  </a:cubicBezTo>
                  <a:lnTo>
                    <a:pt x="110971" y="1168400"/>
                  </a:lnTo>
                  <a:cubicBezTo>
                    <a:pt x="49683" y="1168400"/>
                    <a:pt x="0" y="1118717"/>
                    <a:pt x="0" y="1057429"/>
                  </a:cubicBezTo>
                  <a:lnTo>
                    <a:pt x="0" y="110971"/>
                  </a:lnTo>
                  <a:cubicBezTo>
                    <a:pt x="0" y="49683"/>
                    <a:pt x="49683" y="0"/>
                    <a:pt x="11097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2616200" cy="1158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02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  Governance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flipV="true">
            <a:off x="9791700" y="4629150"/>
            <a:ext cx="304800" cy="1143000"/>
          </a:xfrm>
          <a:prstGeom prst="line">
            <a:avLst/>
          </a:prstGeom>
          <a:ln cap="rnd" w="38100">
            <a:solidFill>
              <a:srgbClr val="24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0096500" y="4191000"/>
            <a:ext cx="1962150" cy="876300"/>
            <a:chOff x="0" y="0"/>
            <a:chExt cx="2616200" cy="1168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162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616200">
                  <a:moveTo>
                    <a:pt x="110971" y="0"/>
                  </a:moveTo>
                  <a:lnTo>
                    <a:pt x="2505229" y="0"/>
                  </a:lnTo>
                  <a:cubicBezTo>
                    <a:pt x="2566517" y="0"/>
                    <a:pt x="2616200" y="49683"/>
                    <a:pt x="2616200" y="110971"/>
                  </a:cubicBezTo>
                  <a:lnTo>
                    <a:pt x="2616200" y="1057429"/>
                  </a:lnTo>
                  <a:cubicBezTo>
                    <a:pt x="2616200" y="1118717"/>
                    <a:pt x="2566517" y="1168400"/>
                    <a:pt x="2505229" y="1168400"/>
                  </a:cubicBezTo>
                  <a:lnTo>
                    <a:pt x="110971" y="1168400"/>
                  </a:lnTo>
                  <a:cubicBezTo>
                    <a:pt x="49683" y="1168400"/>
                    <a:pt x="0" y="1118717"/>
                    <a:pt x="0" y="1057429"/>
                  </a:cubicBezTo>
                  <a:lnTo>
                    <a:pt x="0" y="110971"/>
                  </a:lnTo>
                  <a:cubicBezTo>
                    <a:pt x="0" y="49683"/>
                    <a:pt x="49683" y="0"/>
                    <a:pt x="11097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2616200" cy="1158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02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  Team &amp; ecosystem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2058650" y="4629150"/>
            <a:ext cx="304800" cy="1143000"/>
          </a:xfrm>
          <a:prstGeom prst="line">
            <a:avLst/>
          </a:prstGeom>
          <a:ln cap="rnd" w="38100">
            <a:solidFill>
              <a:srgbClr val="24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2363450" y="5334000"/>
            <a:ext cx="1962150" cy="876300"/>
            <a:chOff x="0" y="0"/>
            <a:chExt cx="2616200" cy="1168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162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616200">
                  <a:moveTo>
                    <a:pt x="110971" y="0"/>
                  </a:moveTo>
                  <a:lnTo>
                    <a:pt x="2505229" y="0"/>
                  </a:lnTo>
                  <a:cubicBezTo>
                    <a:pt x="2566517" y="0"/>
                    <a:pt x="2616200" y="49683"/>
                    <a:pt x="2616200" y="110971"/>
                  </a:cubicBezTo>
                  <a:lnTo>
                    <a:pt x="2616200" y="1057429"/>
                  </a:lnTo>
                  <a:cubicBezTo>
                    <a:pt x="2616200" y="1118717"/>
                    <a:pt x="2566517" y="1168400"/>
                    <a:pt x="2505229" y="1168400"/>
                  </a:cubicBezTo>
                  <a:lnTo>
                    <a:pt x="110971" y="1168400"/>
                  </a:lnTo>
                  <a:cubicBezTo>
                    <a:pt x="49683" y="1168400"/>
                    <a:pt x="0" y="1118717"/>
                    <a:pt x="0" y="1057429"/>
                  </a:cubicBezTo>
                  <a:lnTo>
                    <a:pt x="0" y="110971"/>
                  </a:lnTo>
                  <a:cubicBezTo>
                    <a:pt x="0" y="49683"/>
                    <a:pt x="49683" y="0"/>
                    <a:pt x="11097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2616200" cy="1158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02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06  Economics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flipV="true">
            <a:off x="14325600" y="4629150"/>
            <a:ext cx="304800" cy="1143000"/>
          </a:xfrm>
          <a:prstGeom prst="line">
            <a:avLst/>
          </a:prstGeom>
          <a:ln cap="rnd" w="38100">
            <a:solidFill>
              <a:srgbClr val="24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4630400" y="4191000"/>
            <a:ext cx="1962150" cy="876300"/>
            <a:chOff x="0" y="0"/>
            <a:chExt cx="2616200" cy="1168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162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616200">
                  <a:moveTo>
                    <a:pt x="110971" y="0"/>
                  </a:moveTo>
                  <a:lnTo>
                    <a:pt x="2505229" y="0"/>
                  </a:lnTo>
                  <a:cubicBezTo>
                    <a:pt x="2566517" y="0"/>
                    <a:pt x="2616200" y="49683"/>
                    <a:pt x="2616200" y="110971"/>
                  </a:cubicBezTo>
                  <a:lnTo>
                    <a:pt x="2616200" y="1057429"/>
                  </a:lnTo>
                  <a:cubicBezTo>
                    <a:pt x="2616200" y="1118717"/>
                    <a:pt x="2566517" y="1168400"/>
                    <a:pt x="2505229" y="1168400"/>
                  </a:cubicBezTo>
                  <a:lnTo>
                    <a:pt x="110971" y="1168400"/>
                  </a:lnTo>
                  <a:cubicBezTo>
                    <a:pt x="49683" y="1168400"/>
                    <a:pt x="0" y="1118717"/>
                    <a:pt x="0" y="1057429"/>
                  </a:cubicBezTo>
                  <a:lnTo>
                    <a:pt x="0" y="110971"/>
                  </a:lnTo>
                  <a:cubicBezTo>
                    <a:pt x="0" y="49683"/>
                    <a:pt x="49683" y="0"/>
                    <a:pt x="110971" y="0"/>
                  </a:cubicBezTo>
                  <a:close/>
                </a:path>
              </a:pathLst>
            </a:custGeom>
            <a:solidFill>
              <a:srgbClr val="071827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9525"/>
              <a:ext cx="2616200" cy="1158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07  Service culture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28700" y="9782175"/>
            <a:ext cx="47625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500">
                <a:solidFill>
                  <a:srgbClr val="607581"/>
                </a:solidFill>
                <a:latin typeface="Source Sans 3"/>
                <a:ea typeface="Source Sans 3"/>
                <a:cs typeface="Source Sans 3"/>
                <a:sym typeface="Source Sans 3"/>
              </a:rPr>
              <a:t>IT2312  •  GODWYN NERI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82250" y="0"/>
            <a:ext cx="7905750" cy="10287000"/>
          </a:xfrm>
          <a:custGeom>
            <a:avLst/>
            <a:gdLst/>
            <a:ahLst/>
            <a:cxnLst/>
            <a:rect r="r" b="b" t="t" l="l"/>
            <a:pathLst>
              <a:path h="10287000" w="7905750">
                <a:moveTo>
                  <a:pt x="0" y="0"/>
                </a:moveTo>
                <a:lnTo>
                  <a:pt x="7905750" y="0"/>
                </a:lnTo>
                <a:lnTo>
                  <a:pt x="7905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" r="0" b="-66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096250" y="0"/>
            <a:ext cx="4762500" cy="10287000"/>
            <a:chOff x="0" y="0"/>
            <a:chExt cx="6350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827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35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847725"/>
            <a:ext cx="4953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16" b="true">
                <a:solidFill>
                  <a:srgbClr val="24C7D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PEOPLE BEFORE PROCESS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057400"/>
            <a:ext cx="8572500" cy="1109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enables.</a:t>
            </a:r>
          </a:p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People deliver.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733925"/>
            <a:ext cx="7429500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ITSM succeeds when accountability is visible, decisions have owners, and teams understand the customer outcome—not only the ticket. Roles turn frameworks into repeatable behavior.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581900"/>
            <a:ext cx="752475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B7E35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Clarity → trust → consistent service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0600"/>
            <a:ext cx="685800" cy="76200"/>
            <a:chOff x="0" y="0"/>
            <a:chExt cx="9144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101600"/>
            </a:xfrm>
            <a:custGeom>
              <a:avLst/>
              <a:gdLst/>
              <a:ahLst/>
              <a:cxnLst/>
              <a:rect r="r" b="b" t="t" l="l"/>
              <a:pathLst>
                <a:path h="1016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4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752475"/>
            <a:ext cx="476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16" b="true">
                <a:solidFill>
                  <a:srgbClr val="24C7D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THE SERVICE MANAGER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438275"/>
            <a:ext cx="8572500" cy="1109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02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Executive leadership</a:t>
            </a:r>
          </a:p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02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 service value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400425"/>
            <a:ext cx="8096250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02534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Connects business strategy to service management practice. Balances customer value, risk, cost, capability, and continual improvement across the service lifecycle.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6000750"/>
            <a:ext cx="8096250" cy="1200150"/>
            <a:chOff x="0" y="0"/>
            <a:chExt cx="10795000" cy="1600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50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10795000">
                  <a:moveTo>
                    <a:pt x="26894" y="0"/>
                  </a:moveTo>
                  <a:lnTo>
                    <a:pt x="10768106" y="0"/>
                  </a:lnTo>
                  <a:cubicBezTo>
                    <a:pt x="10782959" y="0"/>
                    <a:pt x="10795000" y="12041"/>
                    <a:pt x="10795000" y="26894"/>
                  </a:cubicBezTo>
                  <a:lnTo>
                    <a:pt x="10795000" y="1573306"/>
                  </a:lnTo>
                  <a:cubicBezTo>
                    <a:pt x="10795000" y="1588159"/>
                    <a:pt x="10782959" y="1600200"/>
                    <a:pt x="10768106" y="1600200"/>
                  </a:cubicBezTo>
                  <a:lnTo>
                    <a:pt x="26894" y="1600200"/>
                  </a:lnTo>
                  <a:cubicBezTo>
                    <a:pt x="12041" y="1600200"/>
                    <a:pt x="0" y="1588159"/>
                    <a:pt x="0" y="1573306"/>
                  </a:cubicBezTo>
                  <a:lnTo>
                    <a:pt x="0" y="26894"/>
                  </a:lnTo>
                  <a:cubicBezTo>
                    <a:pt x="0" y="12041"/>
                    <a:pt x="12041" y="0"/>
                    <a:pt x="26894" y="0"/>
                  </a:cubicBezTo>
                  <a:close/>
                </a:path>
              </a:pathLst>
            </a:custGeom>
            <a:solidFill>
              <a:srgbClr val="071827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0795000" cy="1590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Translate strategy into measurable service outcomes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7924800"/>
            <a:ext cx="857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20" b="true">
                <a:solidFill>
                  <a:srgbClr val="607581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BUSINESS ACUMEN  •  FRAMEWORK STEWARDSHIP  •  DECISION RIGHTS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668000" y="2238375"/>
            <a:ext cx="6572250" cy="6572250"/>
          </a:xfrm>
          <a:custGeom>
            <a:avLst/>
            <a:gdLst/>
            <a:ahLst/>
            <a:cxnLst/>
            <a:rect r="r" b="b" t="t" l="l"/>
            <a:pathLst>
              <a:path h="6572250" w="6572250">
                <a:moveTo>
                  <a:pt x="0" y="0"/>
                </a:moveTo>
                <a:lnTo>
                  <a:pt x="6572250" y="0"/>
                </a:lnTo>
                <a:lnTo>
                  <a:pt x="6572250" y="6572250"/>
                </a:lnTo>
                <a:lnTo>
                  <a:pt x="0" y="6572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0600"/>
            <a:ext cx="685800" cy="76200"/>
            <a:chOff x="0" y="0"/>
            <a:chExt cx="9144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101600"/>
            </a:xfrm>
            <a:custGeom>
              <a:avLst/>
              <a:gdLst/>
              <a:ahLst/>
              <a:cxnLst/>
              <a:rect r="r" b="b" t="t" l="l"/>
              <a:pathLst>
                <a:path h="1016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4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752475"/>
            <a:ext cx="7239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16" b="true">
                <a:solidFill>
                  <a:srgbClr val="24C7D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DETERMINING SERVICE NEEDS  /  CUSTOMER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90650"/>
            <a:ext cx="9334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02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Start with three questions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38375"/>
            <a:ext cx="8572500" cy="33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02534"/>
                </a:solidFill>
                <a:latin typeface="Source Sans 3"/>
                <a:ea typeface="Source Sans 3"/>
                <a:cs typeface="Source Sans 3"/>
                <a:sym typeface="Source Sans 3"/>
              </a:rPr>
              <a:t>Requirements are incomplete until value, experience, and evidence are explicit.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81125" y="3886200"/>
            <a:ext cx="4381500" cy="2971800"/>
            <a:chOff x="0" y="0"/>
            <a:chExt cx="5842000" cy="39624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787400"/>
              <a:ext cx="5842000" cy="3175000"/>
              <a:chOff x="0" y="0"/>
              <a:chExt cx="5842000" cy="3175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842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5842000">
                    <a:moveTo>
                      <a:pt x="49696" y="0"/>
                    </a:moveTo>
                    <a:lnTo>
                      <a:pt x="5792304" y="0"/>
                    </a:lnTo>
                    <a:cubicBezTo>
                      <a:pt x="5819751" y="0"/>
                      <a:pt x="5842000" y="22250"/>
                      <a:pt x="5842000" y="49696"/>
                    </a:cubicBezTo>
                    <a:lnTo>
                      <a:pt x="5842000" y="3125304"/>
                    </a:lnTo>
                    <a:cubicBezTo>
                      <a:pt x="5842000" y="3152751"/>
                      <a:pt x="5819751" y="3175000"/>
                      <a:pt x="5792304" y="3175000"/>
                    </a:cubicBezTo>
                    <a:lnTo>
                      <a:pt x="49696" y="3175000"/>
                    </a:lnTo>
                    <a:cubicBezTo>
                      <a:pt x="22250" y="3175000"/>
                      <a:pt x="0" y="3152751"/>
                      <a:pt x="0" y="3125304"/>
                    </a:cubicBezTo>
                    <a:lnTo>
                      <a:pt x="0" y="49696"/>
                    </a:lnTo>
                    <a:cubicBezTo>
                      <a:pt x="0" y="22250"/>
                      <a:pt x="22250" y="0"/>
                      <a:pt x="496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9525"/>
                <a:ext cx="5842000" cy="3165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102534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What does the customer value?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349500" y="0"/>
              <a:ext cx="1143000" cy="1143000"/>
              <a:chOff x="0" y="0"/>
              <a:chExt cx="1143000" cy="1143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43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1143000">
                    <a:moveTo>
                      <a:pt x="254000" y="0"/>
                    </a:moveTo>
                    <a:lnTo>
                      <a:pt x="889000" y="0"/>
                    </a:lnTo>
                    <a:cubicBezTo>
                      <a:pt x="1029280" y="0"/>
                      <a:pt x="1143000" y="113720"/>
                      <a:pt x="1143000" y="254000"/>
                    </a:cubicBezTo>
                    <a:lnTo>
                      <a:pt x="1143000" y="889000"/>
                    </a:lnTo>
                    <a:cubicBezTo>
                      <a:pt x="1143000" y="1029280"/>
                      <a:pt x="1029280" y="1143000"/>
                      <a:pt x="889000" y="1143000"/>
                    </a:cubicBezTo>
                    <a:lnTo>
                      <a:pt x="254000" y="1143000"/>
                    </a:lnTo>
                    <a:cubicBezTo>
                      <a:pt x="113720" y="1143000"/>
                      <a:pt x="0" y="1029280"/>
                      <a:pt x="0" y="889000"/>
                    </a:cubicBezTo>
                    <a:lnTo>
                      <a:pt x="0" y="254000"/>
                    </a:lnTo>
                    <a:cubicBezTo>
                      <a:pt x="0" y="113720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24C7D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9525"/>
                <a:ext cx="1143000" cy="1133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071827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01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6953250" y="3886200"/>
            <a:ext cx="4381500" cy="2971800"/>
            <a:chOff x="0" y="0"/>
            <a:chExt cx="5842000" cy="39624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787400"/>
              <a:ext cx="5842000" cy="3175000"/>
              <a:chOff x="0" y="0"/>
              <a:chExt cx="5842000" cy="3175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842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5842000">
                    <a:moveTo>
                      <a:pt x="49696" y="0"/>
                    </a:moveTo>
                    <a:lnTo>
                      <a:pt x="5792304" y="0"/>
                    </a:lnTo>
                    <a:cubicBezTo>
                      <a:pt x="5819751" y="0"/>
                      <a:pt x="5842000" y="22250"/>
                      <a:pt x="5842000" y="49696"/>
                    </a:cubicBezTo>
                    <a:lnTo>
                      <a:pt x="5842000" y="3125304"/>
                    </a:lnTo>
                    <a:cubicBezTo>
                      <a:pt x="5842000" y="3152751"/>
                      <a:pt x="5819751" y="3175000"/>
                      <a:pt x="5792304" y="3175000"/>
                    </a:cubicBezTo>
                    <a:lnTo>
                      <a:pt x="49696" y="3175000"/>
                    </a:lnTo>
                    <a:cubicBezTo>
                      <a:pt x="22250" y="3175000"/>
                      <a:pt x="0" y="3152751"/>
                      <a:pt x="0" y="3125304"/>
                    </a:cubicBezTo>
                    <a:lnTo>
                      <a:pt x="0" y="49696"/>
                    </a:lnTo>
                    <a:cubicBezTo>
                      <a:pt x="0" y="22250"/>
                      <a:pt x="22250" y="0"/>
                      <a:pt x="49696" y="0"/>
                    </a:cubicBezTo>
                    <a:close/>
                  </a:path>
                </a:pathLst>
              </a:custGeom>
              <a:solidFill>
                <a:srgbClr val="07182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9525"/>
                <a:ext cx="5842000" cy="3165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What experience do they expect?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2349500" y="0"/>
              <a:ext cx="1143000" cy="1143000"/>
              <a:chOff x="0" y="0"/>
              <a:chExt cx="1143000" cy="1143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143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1143000">
                    <a:moveTo>
                      <a:pt x="254000" y="0"/>
                    </a:moveTo>
                    <a:lnTo>
                      <a:pt x="889000" y="0"/>
                    </a:lnTo>
                    <a:cubicBezTo>
                      <a:pt x="1029280" y="0"/>
                      <a:pt x="1143000" y="113720"/>
                      <a:pt x="1143000" y="254000"/>
                    </a:cubicBezTo>
                    <a:lnTo>
                      <a:pt x="1143000" y="889000"/>
                    </a:lnTo>
                    <a:cubicBezTo>
                      <a:pt x="1143000" y="1029280"/>
                      <a:pt x="1029280" y="1143000"/>
                      <a:pt x="889000" y="1143000"/>
                    </a:cubicBezTo>
                    <a:lnTo>
                      <a:pt x="254000" y="1143000"/>
                    </a:lnTo>
                    <a:cubicBezTo>
                      <a:pt x="113720" y="1143000"/>
                      <a:pt x="0" y="1029280"/>
                      <a:pt x="0" y="889000"/>
                    </a:cubicBezTo>
                    <a:lnTo>
                      <a:pt x="0" y="254000"/>
                    </a:lnTo>
                    <a:cubicBezTo>
                      <a:pt x="0" y="113720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24C7D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9525"/>
                <a:ext cx="1143000" cy="1133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071827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02</a:t>
                </a: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12525375" y="3886200"/>
            <a:ext cx="4381500" cy="2971800"/>
            <a:chOff x="0" y="0"/>
            <a:chExt cx="5842000" cy="39624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787400"/>
              <a:ext cx="5842000" cy="3175000"/>
              <a:chOff x="0" y="0"/>
              <a:chExt cx="5842000" cy="3175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842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5842000">
                    <a:moveTo>
                      <a:pt x="49696" y="0"/>
                    </a:moveTo>
                    <a:lnTo>
                      <a:pt x="5792304" y="0"/>
                    </a:lnTo>
                    <a:cubicBezTo>
                      <a:pt x="5819751" y="0"/>
                      <a:pt x="5842000" y="22250"/>
                      <a:pt x="5842000" y="49696"/>
                    </a:cubicBezTo>
                    <a:lnTo>
                      <a:pt x="5842000" y="3125304"/>
                    </a:lnTo>
                    <a:cubicBezTo>
                      <a:pt x="5842000" y="3152751"/>
                      <a:pt x="5819751" y="3175000"/>
                      <a:pt x="5792304" y="3175000"/>
                    </a:cubicBezTo>
                    <a:lnTo>
                      <a:pt x="49696" y="3175000"/>
                    </a:lnTo>
                    <a:cubicBezTo>
                      <a:pt x="22250" y="3175000"/>
                      <a:pt x="0" y="3152751"/>
                      <a:pt x="0" y="3125304"/>
                    </a:cubicBezTo>
                    <a:lnTo>
                      <a:pt x="0" y="49696"/>
                    </a:lnTo>
                    <a:cubicBezTo>
                      <a:pt x="0" y="22250"/>
                      <a:pt x="22250" y="0"/>
                      <a:pt x="496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9525"/>
                <a:ext cx="5842000" cy="3165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102534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How will success be measured?</a:t>
                </a: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2349500" y="0"/>
              <a:ext cx="1143000" cy="1143000"/>
              <a:chOff x="0" y="0"/>
              <a:chExt cx="1143000" cy="1143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143000" cy="1143000"/>
              </a:xfrm>
              <a:custGeom>
                <a:avLst/>
                <a:gdLst/>
                <a:ahLst/>
                <a:cxnLst/>
                <a:rect r="r" b="b" t="t" l="l"/>
                <a:pathLst>
                  <a:path h="1143000" w="1143000">
                    <a:moveTo>
                      <a:pt x="254000" y="0"/>
                    </a:moveTo>
                    <a:lnTo>
                      <a:pt x="889000" y="0"/>
                    </a:lnTo>
                    <a:cubicBezTo>
                      <a:pt x="1029280" y="0"/>
                      <a:pt x="1143000" y="113720"/>
                      <a:pt x="1143000" y="254000"/>
                    </a:cubicBezTo>
                    <a:lnTo>
                      <a:pt x="1143000" y="889000"/>
                    </a:lnTo>
                    <a:cubicBezTo>
                      <a:pt x="1143000" y="1029280"/>
                      <a:pt x="1029280" y="1143000"/>
                      <a:pt x="889000" y="1143000"/>
                    </a:cubicBezTo>
                    <a:lnTo>
                      <a:pt x="254000" y="1143000"/>
                    </a:lnTo>
                    <a:cubicBezTo>
                      <a:pt x="113720" y="1143000"/>
                      <a:pt x="0" y="1029280"/>
                      <a:pt x="0" y="889000"/>
                    </a:cubicBezTo>
                    <a:lnTo>
                      <a:pt x="0" y="254000"/>
                    </a:lnTo>
                    <a:cubicBezTo>
                      <a:pt x="0" y="113720"/>
                      <a:pt x="113720" y="0"/>
                      <a:pt x="254000" y="0"/>
                    </a:cubicBezTo>
                    <a:close/>
                  </a:path>
                </a:pathLst>
              </a:custGeom>
              <a:solidFill>
                <a:srgbClr val="24C7D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9525"/>
                <a:ext cx="1143000" cy="1133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  <a:r>
                  <a:rPr lang="en-US" sz="1800" b="true">
                    <a:solidFill>
                      <a:srgbClr val="071827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03</a:t>
                </a: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0600"/>
            <a:ext cx="685800" cy="76200"/>
            <a:chOff x="0" y="0"/>
            <a:chExt cx="9144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101600"/>
            </a:xfrm>
            <a:custGeom>
              <a:avLst/>
              <a:gdLst/>
              <a:ahLst/>
              <a:cxnLst/>
              <a:rect r="r" b="b" t="t" l="l"/>
              <a:pathLst>
                <a:path h="1016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B7E35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75247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16" b="true">
                <a:solidFill>
                  <a:srgbClr val="24C7D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DETERMINING SERVICE NEEDS  /  IT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533525"/>
            <a:ext cx="9810750" cy="1109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Promise only what</a:t>
            </a:r>
          </a:p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system can sustain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067175"/>
            <a:ext cx="75247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Capability is the honest intersection of people, process, technology, suppliers, capacity, and funding.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001250" y="2286000"/>
            <a:ext cx="6191250" cy="1809750"/>
            <a:chOff x="0" y="0"/>
            <a:chExt cx="8255000" cy="241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55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8255000">
                  <a:moveTo>
                    <a:pt x="35169" y="0"/>
                  </a:moveTo>
                  <a:lnTo>
                    <a:pt x="8219831" y="0"/>
                  </a:lnTo>
                  <a:cubicBezTo>
                    <a:pt x="8239254" y="0"/>
                    <a:pt x="8255000" y="15746"/>
                    <a:pt x="8255000" y="35169"/>
                  </a:cubicBezTo>
                  <a:lnTo>
                    <a:pt x="8255000" y="2377831"/>
                  </a:lnTo>
                  <a:cubicBezTo>
                    <a:pt x="8255000" y="2397254"/>
                    <a:pt x="8239254" y="2413000"/>
                    <a:pt x="8219831" y="2413000"/>
                  </a:cubicBezTo>
                  <a:lnTo>
                    <a:pt x="35169" y="2413000"/>
                  </a:lnTo>
                  <a:cubicBezTo>
                    <a:pt x="15746" y="2413000"/>
                    <a:pt x="0" y="2397254"/>
                    <a:pt x="0" y="2377831"/>
                  </a:cubicBezTo>
                  <a:lnTo>
                    <a:pt x="0" y="35169"/>
                  </a:lnTo>
                  <a:cubicBezTo>
                    <a:pt x="0" y="15746"/>
                    <a:pt x="15746" y="0"/>
                    <a:pt x="3516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8255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02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  What can IT reliably deliver?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01250" y="5334000"/>
            <a:ext cx="6191250" cy="1809750"/>
            <a:chOff x="0" y="0"/>
            <a:chExt cx="8255000" cy="241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55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8255000">
                  <a:moveTo>
                    <a:pt x="35169" y="0"/>
                  </a:moveTo>
                  <a:lnTo>
                    <a:pt x="8219831" y="0"/>
                  </a:lnTo>
                  <a:cubicBezTo>
                    <a:pt x="8239254" y="0"/>
                    <a:pt x="8255000" y="15746"/>
                    <a:pt x="8255000" y="35169"/>
                  </a:cubicBezTo>
                  <a:lnTo>
                    <a:pt x="8255000" y="2377831"/>
                  </a:lnTo>
                  <a:cubicBezTo>
                    <a:pt x="8255000" y="2397254"/>
                    <a:pt x="8239254" y="2413000"/>
                    <a:pt x="8219831" y="2413000"/>
                  </a:cubicBezTo>
                  <a:lnTo>
                    <a:pt x="35169" y="2413000"/>
                  </a:lnTo>
                  <a:cubicBezTo>
                    <a:pt x="15746" y="2413000"/>
                    <a:pt x="0" y="2397254"/>
                    <a:pt x="0" y="2377831"/>
                  </a:cubicBezTo>
                  <a:lnTo>
                    <a:pt x="0" y="35169"/>
                  </a:lnTo>
                  <a:cubicBezTo>
                    <a:pt x="0" y="15746"/>
                    <a:pt x="15746" y="0"/>
                    <a:pt x="35169" y="0"/>
                  </a:cubicBezTo>
                  <a:close/>
                </a:path>
              </a:pathLst>
            </a:custGeom>
            <a:solidFill>
              <a:srgbClr val="B7E35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8255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  What must change to close the gap?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3096875" y="4095750"/>
            <a:ext cx="0" cy="1238250"/>
          </a:xfrm>
          <a:prstGeom prst="line">
            <a:avLst/>
          </a:prstGeom>
          <a:ln cap="rnd" w="57150">
            <a:solidFill>
              <a:srgbClr val="24C7D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0600"/>
            <a:ext cx="685800" cy="76200"/>
            <a:chOff x="0" y="0"/>
            <a:chExt cx="9144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101600"/>
            </a:xfrm>
            <a:custGeom>
              <a:avLst/>
              <a:gdLst/>
              <a:ahLst/>
              <a:cxnLst/>
              <a:rect r="r" b="b" t="t" l="l"/>
              <a:pathLst>
                <a:path h="1016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4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75247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16" b="true">
                <a:solidFill>
                  <a:srgbClr val="24C7D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SERVICE TRANSITION + SERVICE OPERATION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90650"/>
            <a:ext cx="11239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02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Govern change. Restore service.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14575"/>
            <a:ext cx="114300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>
                <a:solidFill>
                  <a:srgbClr val="102534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Service Manager protects stability while enabling improvement—using risk-based change decisions and disciplined incident leadership.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24000" y="4476750"/>
            <a:ext cx="3714750" cy="1123950"/>
            <a:chOff x="0" y="0"/>
            <a:chExt cx="4953000" cy="1498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530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439985"/>
                  </a:lnTo>
                  <a:cubicBezTo>
                    <a:pt x="4953000" y="1472357"/>
                    <a:pt x="4926757" y="1498600"/>
                    <a:pt x="4894385" y="1498600"/>
                  </a:cubicBezTo>
                  <a:lnTo>
                    <a:pt x="58615" y="1498600"/>
                  </a:lnTo>
                  <a:cubicBezTo>
                    <a:pt x="26243" y="1498600"/>
                    <a:pt x="0" y="1472357"/>
                    <a:pt x="0" y="14399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4953000" cy="1489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02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Assess risk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810250" y="4476750"/>
            <a:ext cx="3714750" cy="1123950"/>
            <a:chOff x="0" y="0"/>
            <a:chExt cx="4953000" cy="1498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530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439985"/>
                  </a:lnTo>
                  <a:cubicBezTo>
                    <a:pt x="4953000" y="1472357"/>
                    <a:pt x="4926757" y="1498600"/>
                    <a:pt x="4894385" y="1498600"/>
                  </a:cubicBezTo>
                  <a:lnTo>
                    <a:pt x="58615" y="1498600"/>
                  </a:lnTo>
                  <a:cubicBezTo>
                    <a:pt x="26243" y="1498600"/>
                    <a:pt x="0" y="1472357"/>
                    <a:pt x="0" y="14399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24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4953000" cy="1489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Authorize change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96500" y="4476750"/>
            <a:ext cx="3714750" cy="1123950"/>
            <a:chOff x="0" y="0"/>
            <a:chExt cx="4953000" cy="1498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530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439985"/>
                  </a:lnTo>
                  <a:cubicBezTo>
                    <a:pt x="4953000" y="1472357"/>
                    <a:pt x="4926757" y="1498600"/>
                    <a:pt x="4894385" y="1498600"/>
                  </a:cubicBezTo>
                  <a:lnTo>
                    <a:pt x="58615" y="1498600"/>
                  </a:lnTo>
                  <a:cubicBezTo>
                    <a:pt x="26243" y="1498600"/>
                    <a:pt x="0" y="1472357"/>
                    <a:pt x="0" y="14399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4953000" cy="1489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02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Review outcome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667125" y="7000875"/>
            <a:ext cx="3714750" cy="1123950"/>
            <a:chOff x="0" y="0"/>
            <a:chExt cx="4953000" cy="1498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530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439985"/>
                  </a:lnTo>
                  <a:cubicBezTo>
                    <a:pt x="4953000" y="1472357"/>
                    <a:pt x="4926757" y="1498600"/>
                    <a:pt x="4894385" y="1498600"/>
                  </a:cubicBezTo>
                  <a:lnTo>
                    <a:pt x="58615" y="1498600"/>
                  </a:lnTo>
                  <a:cubicBezTo>
                    <a:pt x="26243" y="1498600"/>
                    <a:pt x="0" y="1472357"/>
                    <a:pt x="0" y="14399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071827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4953000" cy="1489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Coordinate response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953375" y="7000875"/>
            <a:ext cx="3714750" cy="1123950"/>
            <a:chOff x="0" y="0"/>
            <a:chExt cx="4953000" cy="1498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530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439985"/>
                  </a:lnTo>
                  <a:cubicBezTo>
                    <a:pt x="4953000" y="1472357"/>
                    <a:pt x="4926757" y="1498600"/>
                    <a:pt x="4894385" y="1498600"/>
                  </a:cubicBezTo>
                  <a:lnTo>
                    <a:pt x="58615" y="1498600"/>
                  </a:lnTo>
                  <a:cubicBezTo>
                    <a:pt x="26243" y="1498600"/>
                    <a:pt x="0" y="1472357"/>
                    <a:pt x="0" y="14399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B7E35B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4953000" cy="1489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Restore + learn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5238750" y="5038725"/>
            <a:ext cx="571500" cy="0"/>
          </a:xfrm>
          <a:prstGeom prst="line">
            <a:avLst/>
          </a:prstGeom>
          <a:ln cap="flat" w="47625">
            <a:solidFill>
              <a:srgbClr val="24C7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9525000" y="5038725"/>
            <a:ext cx="571500" cy="0"/>
          </a:xfrm>
          <a:prstGeom prst="line">
            <a:avLst/>
          </a:prstGeom>
          <a:ln cap="flat" w="47625">
            <a:solidFill>
              <a:srgbClr val="24C7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7381875" y="7562850"/>
            <a:ext cx="571500" cy="0"/>
          </a:xfrm>
          <a:prstGeom prst="line">
            <a:avLst/>
          </a:prstGeom>
          <a:ln cap="flat" w="47625">
            <a:solidFill>
              <a:srgbClr val="B7E35B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0600"/>
            <a:ext cx="685800" cy="76200"/>
            <a:chOff x="0" y="0"/>
            <a:chExt cx="9144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101600"/>
            </a:xfrm>
            <a:custGeom>
              <a:avLst/>
              <a:gdLst/>
              <a:ahLst/>
              <a:cxnLst/>
              <a:rect r="r" b="b" t="t" l="l"/>
              <a:pathLst>
                <a:path h="1016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4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752475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16" b="true">
                <a:solidFill>
                  <a:srgbClr val="24C7D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COLLABORATIVE GOVERNANCE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90650"/>
            <a:ext cx="114300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02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service. Shared stewardship.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05050"/>
            <a:ext cx="11620500" cy="23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3"/>
              </a:lnSpc>
            </a:pPr>
            <a:r>
              <a:rPr lang="en-US" sz="1425">
                <a:solidFill>
                  <a:srgbClr val="102534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Service Sponsor secures authority and investment. The Service Team converts direction into design, execution, measurement, and improvement.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72250" y="4095750"/>
            <a:ext cx="5143500" cy="1428750"/>
            <a:chOff x="0" y="0"/>
            <a:chExt cx="6858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8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6858000">
                  <a:moveTo>
                    <a:pt x="42333" y="0"/>
                  </a:moveTo>
                  <a:lnTo>
                    <a:pt x="6815667" y="0"/>
                  </a:lnTo>
                  <a:cubicBezTo>
                    <a:pt x="6826894" y="0"/>
                    <a:pt x="6837662" y="4460"/>
                    <a:pt x="6845601" y="12399"/>
                  </a:cubicBezTo>
                  <a:cubicBezTo>
                    <a:pt x="6853540" y="20338"/>
                    <a:pt x="6858000" y="31106"/>
                    <a:pt x="6858000" y="42333"/>
                  </a:cubicBezTo>
                  <a:lnTo>
                    <a:pt x="6858000" y="1862667"/>
                  </a:lnTo>
                  <a:cubicBezTo>
                    <a:pt x="6858000" y="1873894"/>
                    <a:pt x="6853540" y="1884662"/>
                    <a:pt x="6845601" y="1892601"/>
                  </a:cubicBezTo>
                  <a:cubicBezTo>
                    <a:pt x="6837662" y="1900540"/>
                    <a:pt x="6826894" y="1905000"/>
                    <a:pt x="6815667" y="1905000"/>
                  </a:cubicBezTo>
                  <a:lnTo>
                    <a:pt x="42333" y="1905000"/>
                  </a:lnTo>
                  <a:cubicBezTo>
                    <a:pt x="31106" y="1905000"/>
                    <a:pt x="20338" y="1900540"/>
                    <a:pt x="12399" y="1892601"/>
                  </a:cubicBezTo>
                  <a:cubicBezTo>
                    <a:pt x="4460" y="1884662"/>
                    <a:pt x="0" y="1873894"/>
                    <a:pt x="0" y="1862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71827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6858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SERVICE SPONSOR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Direction • funding • escalation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14500" y="6858000"/>
            <a:ext cx="3143250" cy="1238250"/>
            <a:chOff x="0" y="0"/>
            <a:chExt cx="4191000" cy="165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581727"/>
                  </a:lnTo>
                  <a:cubicBezTo>
                    <a:pt x="4191000" y="1600100"/>
                    <a:pt x="4183702" y="1617719"/>
                    <a:pt x="4170711" y="1630711"/>
                  </a:cubicBezTo>
                  <a:cubicBezTo>
                    <a:pt x="4157719" y="1643702"/>
                    <a:pt x="4140100" y="1651000"/>
                    <a:pt x="4121727" y="1651000"/>
                  </a:cubicBezTo>
                  <a:lnTo>
                    <a:pt x="69273" y="1651000"/>
                  </a:lnTo>
                  <a:cubicBezTo>
                    <a:pt x="50900" y="1651000"/>
                    <a:pt x="33281" y="1643702"/>
                    <a:pt x="20290" y="1630711"/>
                  </a:cubicBezTo>
                  <a:cubicBezTo>
                    <a:pt x="7298" y="1617719"/>
                    <a:pt x="0" y="1600100"/>
                    <a:pt x="0" y="1581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4191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02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Design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flipH="true">
            <a:off x="3286125" y="5524500"/>
            <a:ext cx="5857875" cy="1333500"/>
          </a:xfrm>
          <a:prstGeom prst="line">
            <a:avLst/>
          </a:prstGeom>
          <a:ln cap="flat" w="28575">
            <a:solidFill>
              <a:srgbClr val="24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5810250" y="6858000"/>
            <a:ext cx="3143250" cy="1238250"/>
            <a:chOff x="0" y="0"/>
            <a:chExt cx="4191000" cy="1651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581727"/>
                  </a:lnTo>
                  <a:cubicBezTo>
                    <a:pt x="4191000" y="1600100"/>
                    <a:pt x="4183702" y="1617719"/>
                    <a:pt x="4170711" y="1630711"/>
                  </a:cubicBezTo>
                  <a:cubicBezTo>
                    <a:pt x="4157719" y="1643702"/>
                    <a:pt x="4140100" y="1651000"/>
                    <a:pt x="4121727" y="1651000"/>
                  </a:cubicBezTo>
                  <a:lnTo>
                    <a:pt x="69273" y="1651000"/>
                  </a:lnTo>
                  <a:cubicBezTo>
                    <a:pt x="50900" y="1651000"/>
                    <a:pt x="33281" y="1643702"/>
                    <a:pt x="20290" y="1630711"/>
                  </a:cubicBezTo>
                  <a:cubicBezTo>
                    <a:pt x="7298" y="1617719"/>
                    <a:pt x="0" y="1600100"/>
                    <a:pt x="0" y="1581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4191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02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Operate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flipH="true">
            <a:off x="7381875" y="5524500"/>
            <a:ext cx="1762125" cy="1333500"/>
          </a:xfrm>
          <a:prstGeom prst="line">
            <a:avLst/>
          </a:prstGeom>
          <a:ln cap="flat" w="28575">
            <a:solidFill>
              <a:srgbClr val="24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9906000" y="6858000"/>
            <a:ext cx="3143250" cy="1238250"/>
            <a:chOff x="0" y="0"/>
            <a:chExt cx="4191000" cy="1651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581727"/>
                  </a:lnTo>
                  <a:cubicBezTo>
                    <a:pt x="4191000" y="1600100"/>
                    <a:pt x="4183702" y="1617719"/>
                    <a:pt x="4170711" y="1630711"/>
                  </a:cubicBezTo>
                  <a:cubicBezTo>
                    <a:pt x="4157719" y="1643702"/>
                    <a:pt x="4140100" y="1651000"/>
                    <a:pt x="4121727" y="1651000"/>
                  </a:cubicBezTo>
                  <a:lnTo>
                    <a:pt x="69273" y="1651000"/>
                  </a:lnTo>
                  <a:cubicBezTo>
                    <a:pt x="50900" y="1651000"/>
                    <a:pt x="33281" y="1643702"/>
                    <a:pt x="20290" y="1630711"/>
                  </a:cubicBezTo>
                  <a:cubicBezTo>
                    <a:pt x="7298" y="1617719"/>
                    <a:pt x="0" y="1600100"/>
                    <a:pt x="0" y="1581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4191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02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Measure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9144000" y="5524500"/>
            <a:ext cx="2333625" cy="1333500"/>
          </a:xfrm>
          <a:prstGeom prst="line">
            <a:avLst/>
          </a:prstGeom>
          <a:ln cap="flat" w="28575">
            <a:solidFill>
              <a:srgbClr val="24C7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4001750" y="6858000"/>
            <a:ext cx="3143250" cy="1238250"/>
            <a:chOff x="0" y="0"/>
            <a:chExt cx="4191000" cy="1651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581727"/>
                  </a:lnTo>
                  <a:cubicBezTo>
                    <a:pt x="4191000" y="1600100"/>
                    <a:pt x="4183702" y="1617719"/>
                    <a:pt x="4170711" y="1630711"/>
                  </a:cubicBezTo>
                  <a:cubicBezTo>
                    <a:pt x="4157719" y="1643702"/>
                    <a:pt x="4140100" y="1651000"/>
                    <a:pt x="4121727" y="1651000"/>
                  </a:cubicBezTo>
                  <a:lnTo>
                    <a:pt x="69273" y="1651000"/>
                  </a:lnTo>
                  <a:cubicBezTo>
                    <a:pt x="50900" y="1651000"/>
                    <a:pt x="33281" y="1643702"/>
                    <a:pt x="20290" y="1630711"/>
                  </a:cubicBezTo>
                  <a:cubicBezTo>
                    <a:pt x="7298" y="1617719"/>
                    <a:pt x="0" y="1600100"/>
                    <a:pt x="0" y="1581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B7E35B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4191000" cy="164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102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Improve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9144000" y="5524500"/>
            <a:ext cx="6429375" cy="1333500"/>
          </a:xfrm>
          <a:prstGeom prst="line">
            <a:avLst/>
          </a:prstGeom>
          <a:ln cap="flat" w="28575">
            <a:solidFill>
              <a:srgbClr val="24C7D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572500" cy="10287000"/>
          </a:xfrm>
          <a:custGeom>
            <a:avLst/>
            <a:gdLst/>
            <a:ahLst/>
            <a:cxnLst/>
            <a:rect r="r" b="b" t="t" l="l"/>
            <a:pathLst>
              <a:path h="10287000" w="8572500">
                <a:moveTo>
                  <a:pt x="0" y="0"/>
                </a:moveTo>
                <a:lnTo>
                  <a:pt x="8572500" y="0"/>
                </a:lnTo>
                <a:lnTo>
                  <a:pt x="8572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" r="0" b="-5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906000" y="828675"/>
            <a:ext cx="619125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16" b="true">
                <a:solidFill>
                  <a:srgbClr val="24C7D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OUTSIDE THE ORG CHART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06000" y="1676400"/>
            <a:ext cx="7239000" cy="1109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External roles shape</a:t>
            </a:r>
          </a:p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service outcomes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06000" y="4162425"/>
            <a:ext cx="6953250" cy="139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Customers define value. Suppliers extend capability. Regulators set boundaries. Partners and consultants contribute expertise. Clear interfaces, contracts, escalation paths, and shared measures keep the ecosystem accountable.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6000" y="7581900"/>
            <a:ext cx="66675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B7E35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Manage the relationship—not only the contract.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0600"/>
            <a:ext cx="685800" cy="76200"/>
            <a:chOff x="0" y="0"/>
            <a:chExt cx="9144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101600"/>
            </a:xfrm>
            <a:custGeom>
              <a:avLst/>
              <a:gdLst/>
              <a:ahLst/>
              <a:cxnLst/>
              <a:rect r="r" b="b" t="t" l="l"/>
              <a:pathLst>
                <a:path h="1016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4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65722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16" b="true">
                <a:solidFill>
                  <a:srgbClr val="24C7D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PHILIPPINES  /  JOBSTREET DATA 2023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247775"/>
            <a:ext cx="8572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02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ITSM salary benchmarks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019300"/>
            <a:ext cx="11239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02534"/>
                </a:solidFill>
                <a:latin typeface="Source Sans 3"/>
                <a:ea typeface="Source Sans 3"/>
                <a:cs typeface="Source Sans 3"/>
                <a:sym typeface="Source Sans 3"/>
              </a:rPr>
              <a:t>Illustrative monthly averages; role scope, location, certification, and industry materially affect offers.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114" y="1703502"/>
            <a:ext cx="18191773" cy="8689745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028700" y="9563100"/>
            <a:ext cx="104775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500">
                <a:solidFill>
                  <a:srgbClr val="607581"/>
                </a:solidFill>
                <a:latin typeface="Source Sans 3"/>
                <a:ea typeface="Source Sans 3"/>
                <a:cs typeface="Source Sans 3"/>
                <a:sym typeface="Source Sans 3"/>
              </a:rPr>
              <a:t>Source: Jobstreet salary insights, 2023. Values rounded for classroom comparison.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10750" y="0"/>
            <a:ext cx="8477250" cy="10287000"/>
          </a:xfrm>
          <a:custGeom>
            <a:avLst/>
            <a:gdLst/>
            <a:ahLst/>
            <a:cxnLst/>
            <a:rect r="r" b="b" t="t" l="l"/>
            <a:pathLst>
              <a:path h="10287000" w="8477250">
                <a:moveTo>
                  <a:pt x="0" y="0"/>
                </a:moveTo>
                <a:lnTo>
                  <a:pt x="8477250" y="0"/>
                </a:lnTo>
                <a:lnTo>
                  <a:pt x="8477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" r="0" b="-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096250" y="0"/>
            <a:ext cx="3619500" cy="10287000"/>
            <a:chOff x="0" y="0"/>
            <a:chExt cx="4826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2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826000">
                  <a:moveTo>
                    <a:pt x="0" y="0"/>
                  </a:moveTo>
                  <a:lnTo>
                    <a:pt x="4826000" y="0"/>
                  </a:lnTo>
                  <a:lnTo>
                    <a:pt x="4826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827">
                <a:alpha val="6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26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828675"/>
            <a:ext cx="6667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16" b="true">
                <a:solidFill>
                  <a:srgbClr val="24C7D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THE SERVICE CULTURE FRAMEWORK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771650"/>
            <a:ext cx="8572500" cy="166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Culture is how service</a:t>
            </a:r>
          </a:p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happens when no one</a:t>
            </a:r>
          </a:p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 watching.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114925"/>
            <a:ext cx="7620000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Shared values and daily behaviors determine whether teams listen, own outcomes, collaborate, learn, and improve. Process documents cannot compensate for a mindset that avoids responsibility.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201025"/>
            <a:ext cx="7429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B7E35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MINDSET  →  BEHAVIOR  →  EXPERIENCE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0600"/>
            <a:ext cx="685800" cy="76200"/>
            <a:chOff x="0" y="0"/>
            <a:chExt cx="9144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101600"/>
            </a:xfrm>
            <a:custGeom>
              <a:avLst/>
              <a:gdLst/>
              <a:ahLst/>
              <a:cxnLst/>
              <a:rect r="r" b="b" t="t" l="l"/>
              <a:pathLst>
                <a:path h="1016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4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752475"/>
            <a:ext cx="7239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16" b="true">
                <a:solidFill>
                  <a:srgbClr val="24C7D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SERVICE CULTURE  /  INFLUENCES 01—02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90650"/>
            <a:ext cx="114300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02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Reputation outside. Truth inside.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57425"/>
            <a:ext cx="8572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02534"/>
                </a:solidFill>
                <a:latin typeface="Source Sans 3"/>
                <a:ea typeface="Source Sans 3"/>
                <a:cs typeface="Source Sans 3"/>
                <a:sym typeface="Source Sans 3"/>
              </a:rPr>
              <a:t>Culture is simultaneously a market signal and an operating system.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43000" y="3810000"/>
            <a:ext cx="7524750" cy="4095750"/>
            <a:chOff x="0" y="0"/>
            <a:chExt cx="10033000" cy="5461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033000" cy="5461000"/>
              <a:chOff x="0" y="0"/>
              <a:chExt cx="10033000" cy="5461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033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07182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033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698500" y="530225"/>
              <a:ext cx="1905000" cy="1191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59"/>
                </a:lnSpc>
              </a:pPr>
              <a:r>
                <a:rPr lang="en-US" sz="5400" b="true">
                  <a:solidFill>
                    <a:srgbClr val="24C7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98500" y="2028825"/>
              <a:ext cx="8255000" cy="69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Brand perception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98500" y="3146425"/>
              <a:ext cx="8255000" cy="89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Every interaction becomes evidence of reliability, empathy, and competence.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20250" y="3810000"/>
            <a:ext cx="7524750" cy="4095750"/>
            <a:chOff x="0" y="0"/>
            <a:chExt cx="10033000" cy="5461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033000" cy="5461000"/>
              <a:chOff x="0" y="0"/>
              <a:chExt cx="10033000" cy="5461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033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033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698500" y="530225"/>
              <a:ext cx="1905000" cy="1191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59"/>
                </a:lnSpc>
              </a:pPr>
              <a:r>
                <a:rPr lang="en-US" sz="5400" b="true">
                  <a:solidFill>
                    <a:srgbClr val="24C7D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98500" y="2028825"/>
              <a:ext cx="8255000" cy="69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true">
                  <a:solidFill>
                    <a:srgbClr val="1025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Operational alignment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98500" y="3146425"/>
              <a:ext cx="8255000" cy="89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0253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Honest reporting exposes constraints early—before hidden work becomes customer failure.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0600"/>
            <a:ext cx="685800" cy="76200"/>
            <a:chOff x="0" y="0"/>
            <a:chExt cx="9144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101600"/>
            </a:xfrm>
            <a:custGeom>
              <a:avLst/>
              <a:gdLst/>
              <a:ahLst/>
              <a:cxnLst/>
              <a:rect r="r" b="b" t="t" l="l"/>
              <a:pathLst>
                <a:path h="1016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4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752475"/>
            <a:ext cx="7239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16" b="true">
                <a:solidFill>
                  <a:srgbClr val="24C7D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SERVICE CULTURE  /  INFLUENCES 03—04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90650"/>
            <a:ext cx="10477500" cy="5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1025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Belonging builds resilience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28850"/>
            <a:ext cx="10668000" cy="334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02534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Strong cultures keep capable people—and help the organization adapt before change becomes crisis.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7750" y="3810000"/>
            <a:ext cx="7620000" cy="4000500"/>
            <a:chOff x="0" y="0"/>
            <a:chExt cx="10160000" cy="5334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160000" cy="5334000"/>
              <a:chOff x="0" y="0"/>
              <a:chExt cx="10160000" cy="5334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160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07182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160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762000" y="723900"/>
              <a:ext cx="8255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spc="207" b="true">
                  <a:solidFill>
                    <a:srgbClr val="24C7D9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EMPLOYEE ADVOCACY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762000" y="1571625"/>
              <a:ext cx="8255000" cy="1320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88"/>
                </a:lnSpc>
              </a:pPr>
              <a:r>
                <a:rPr lang="en-US" sz="36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People stay where</a:t>
              </a:r>
            </a:p>
            <a:p>
              <a:pPr algn="l">
                <a:lnSpc>
                  <a:spcPts val="3888"/>
                </a:lnSpc>
              </a:pPr>
              <a:r>
                <a:rPr lang="en-US" sz="36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service work matters.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20250" y="3810000"/>
            <a:ext cx="7620000" cy="4000500"/>
            <a:chOff x="0" y="0"/>
            <a:chExt cx="10160000" cy="5334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160000" cy="5334000"/>
              <a:chOff x="0" y="0"/>
              <a:chExt cx="10160000" cy="5334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160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B7E35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160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016000" y="723900"/>
              <a:ext cx="8255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spc="207" b="true">
                  <a:solidFill>
                    <a:srgbClr val="071827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ORGANIZATIONAL AGILITY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016000" y="1571625"/>
              <a:ext cx="8255000" cy="1320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88"/>
                </a:lnSpc>
              </a:pPr>
              <a:r>
                <a:rPr lang="en-US" sz="3600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Learning turns disruption</a:t>
              </a:r>
            </a:p>
            <a:p>
              <a:pPr algn="l">
                <a:lnSpc>
                  <a:spcPts val="3888"/>
                </a:lnSpc>
              </a:pPr>
              <a:r>
                <a:rPr lang="en-US" sz="3600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into adaptation.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90600"/>
            <a:ext cx="685800" cy="76200"/>
            <a:chOff x="0" y="0"/>
            <a:chExt cx="914400" cy="1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101600"/>
            </a:xfrm>
            <a:custGeom>
              <a:avLst/>
              <a:gdLst/>
              <a:ahLst/>
              <a:cxnLst/>
              <a:rect r="r" b="b" t="t" l="l"/>
              <a:pathLst>
                <a:path h="1016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B7E35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752475"/>
            <a:ext cx="7429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16" b="true">
                <a:solidFill>
                  <a:srgbClr val="24C7D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SYNTHESIS + CLASSROOM DISCUSSION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628775"/>
            <a:ext cx="10953750" cy="1109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Great service is an</a:t>
            </a:r>
          </a:p>
          <a:p>
            <a:pPr algn="l">
              <a:lnSpc>
                <a:spcPts val="4374"/>
              </a:lnSpc>
            </a:pPr>
            <a:r>
              <a:rPr lang="en-US" sz="40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economic and human system.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971925"/>
            <a:ext cx="95250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Clear ownership aligns investment, capability, behavior, and customer value. Service culture makes that alignment repeatable—even under pressure.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334750" y="2571750"/>
            <a:ext cx="4953000" cy="4953000"/>
            <a:chOff x="0" y="0"/>
            <a:chExt cx="6604000" cy="660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6560038"/>
                  </a:lnTo>
                  <a:cubicBezTo>
                    <a:pt x="6604000" y="6571698"/>
                    <a:pt x="6599368" y="6582880"/>
                    <a:pt x="6591124" y="6591124"/>
                  </a:cubicBezTo>
                  <a:cubicBezTo>
                    <a:pt x="6582880" y="6599368"/>
                    <a:pt x="6571698" y="6604000"/>
                    <a:pt x="6560038" y="6604000"/>
                  </a:cubicBezTo>
                  <a:lnTo>
                    <a:pt x="43962" y="6604000"/>
                  </a:lnTo>
                  <a:cubicBezTo>
                    <a:pt x="32302" y="6604000"/>
                    <a:pt x="21120" y="6599368"/>
                    <a:pt x="12876" y="6591124"/>
                  </a:cubicBezTo>
                  <a:cubicBezTo>
                    <a:pt x="4632" y="6582880"/>
                    <a:pt x="0" y="6571698"/>
                    <a:pt x="0" y="6560038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24C7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6604000" cy="659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DISCUSS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VALUE • OWNERSHIP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07182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CAPABILITY • CULTURE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6762750"/>
            <a:ext cx="7810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01  Where is ownership unclear in a service you use?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429500"/>
            <a:ext cx="7810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02  Which culture behavior would improve it fastest?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172575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216" b="true">
                <a:solidFill>
                  <a:srgbClr val="24C7D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THANK YOU  /  GODWYN NERI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DAHXAdyCZEU</dc:identifier>
  <dcterms:modified xsi:type="dcterms:W3CDTF">2011-08-01T06:04:30Z</dcterms:modified>
  <cp:revision>1</cp:revision>
  <dc:title>ITSM Service Economics</dc:title>
</cp:coreProperties>
</file>